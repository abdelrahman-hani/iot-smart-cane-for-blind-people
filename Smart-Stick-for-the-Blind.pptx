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9144000" cy="5143500" type="screen16x9"/>
  <p:notesSz cx="5143500" cy="9144000"/>
  <p:embeddedFontLst>
    <p:embeddedFont>
      <p:font typeface="Instrument Sans Medium" panose="020B0604020202020204" charset="0"/>
      <p:regular r:id="rId12"/>
    </p:embeddedFont>
    <p:embeddedFont>
      <p:font typeface="Instrument Sans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523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A2A2D">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2017142"/>
            <a:ext cx="4051399"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Smart Stick for the Blind</a:t>
            </a:r>
            <a:endParaRPr lang="en-US" sz="2750" dirty="0"/>
          </a:p>
        </p:txBody>
      </p:sp>
      <p:sp>
        <p:nvSpPr>
          <p:cNvPr id="4" name="Text 1"/>
          <p:cNvSpPr/>
          <p:nvPr/>
        </p:nvSpPr>
        <p:spPr>
          <a:xfrm>
            <a:off x="496119" y="2672730"/>
            <a:ext cx="4722763" cy="453628"/>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An Arduino-based IoT obstacle detection system designed to enhance mobility and independence for visually impaired individuals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13184"/>
            <a:ext cx="3544119"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Project Team</a:t>
            </a:r>
            <a:endParaRPr lang="en-US" sz="2750" dirty="0"/>
          </a:p>
        </p:txBody>
      </p:sp>
      <p:sp>
        <p:nvSpPr>
          <p:cNvPr id="3" name="Text 1"/>
          <p:cNvSpPr/>
          <p:nvPr/>
        </p:nvSpPr>
        <p:spPr>
          <a:xfrm>
            <a:off x="496119" y="1439689"/>
            <a:ext cx="8151763" cy="2990552"/>
          </a:xfrm>
          <a:prstGeom prst="rect">
            <a:avLst/>
          </a:prstGeom>
          <a:noFill/>
          <a:ln/>
        </p:spPr>
        <p:txBody>
          <a:bodyPr wrap="square" lIns="0" tIns="0" rIns="0" bIns="0" rtlCol="0" anchor="t"/>
          <a:lstStyle/>
          <a:p>
            <a:pPr marL="342900" indent="-342900" algn="l">
              <a:lnSpc>
                <a:spcPts val="1750"/>
              </a:lnSpc>
              <a:buSzPct val="100000"/>
              <a:buFont typeface="+mj-lt"/>
              <a:buAutoNum type="arabicPeriod"/>
            </a:pPr>
            <a:r>
              <a:rPr lang="en-US" sz="1100" dirty="0">
                <a:solidFill>
                  <a:srgbClr val="CFD0D8"/>
                </a:solidFill>
                <a:latin typeface="Instrument Sans Medium" pitchFamily="34" charset="0"/>
                <a:ea typeface="Instrument Sans Medium" pitchFamily="34" charset="-122"/>
                <a:cs typeface="Instrument Sans Medium" pitchFamily="34" charset="-120"/>
              </a:rPr>
              <a:t>Abdelrahman Mamdouh Rabie Ahmed</a:t>
            </a:r>
            <a:endParaRPr lang="en-US" sz="1100" dirty="0"/>
          </a:p>
          <a:p>
            <a:pPr marL="342900" indent="-342900" algn="l">
              <a:lnSpc>
                <a:spcPts val="1750"/>
              </a:lnSpc>
              <a:buSzPct val="100000"/>
              <a:buFont typeface="+mj-lt"/>
              <a:buAutoNum type="arabicPeriod" startAt="2"/>
            </a:pPr>
            <a:r>
              <a:rPr lang="en-US" sz="1100" dirty="0">
                <a:solidFill>
                  <a:srgbClr val="CFD0D8"/>
                </a:solidFill>
                <a:latin typeface="Instrument Sans Medium" pitchFamily="34" charset="0"/>
                <a:ea typeface="Instrument Sans Medium" pitchFamily="34" charset="-122"/>
                <a:cs typeface="Instrument Sans Medium" pitchFamily="34" charset="-120"/>
              </a:rPr>
              <a:t>Abdelrahman Eid Ahmed Abdel Wahab</a:t>
            </a:r>
            <a:endParaRPr lang="en-US" sz="1100" dirty="0"/>
          </a:p>
          <a:p>
            <a:pPr marL="342900" indent="-342900" algn="l">
              <a:lnSpc>
                <a:spcPts val="1750"/>
              </a:lnSpc>
              <a:buSzPct val="100000"/>
              <a:buFont typeface="+mj-lt"/>
              <a:buAutoNum type="arabicPeriod" startAt="3"/>
            </a:pPr>
            <a:r>
              <a:rPr lang="en-US" sz="1100" dirty="0">
                <a:solidFill>
                  <a:srgbClr val="CFD0D8"/>
                </a:solidFill>
                <a:latin typeface="Instrument Sans Medium" pitchFamily="34" charset="0"/>
                <a:ea typeface="Instrument Sans Medium" pitchFamily="34" charset="-122"/>
                <a:cs typeface="Instrument Sans Medium" pitchFamily="34" charset="-120"/>
              </a:rPr>
              <a:t>Habiba Ahmed Talaat</a:t>
            </a:r>
            <a:endParaRPr lang="en-US" sz="1100" dirty="0"/>
          </a:p>
          <a:p>
            <a:pPr marL="342900" indent="-342900" algn="l">
              <a:lnSpc>
                <a:spcPts val="1750"/>
              </a:lnSpc>
              <a:buSzPct val="100000"/>
              <a:buFont typeface="+mj-lt"/>
              <a:buAutoNum type="arabicPeriod" startAt="4"/>
            </a:pPr>
            <a:r>
              <a:rPr lang="en-US" sz="1100" dirty="0">
                <a:solidFill>
                  <a:srgbClr val="CFD0D8"/>
                </a:solidFill>
                <a:latin typeface="Instrument Sans Medium" pitchFamily="34" charset="0"/>
                <a:ea typeface="Instrument Sans Medium" pitchFamily="34" charset="-122"/>
                <a:cs typeface="Instrument Sans Medium" pitchFamily="34" charset="-120"/>
              </a:rPr>
              <a:t>Ali Hamdi Mohamed</a:t>
            </a:r>
            <a:endParaRPr lang="en-US" sz="1100" dirty="0"/>
          </a:p>
          <a:p>
            <a:pPr marL="342900" indent="-342900" algn="l">
              <a:lnSpc>
                <a:spcPts val="1750"/>
              </a:lnSpc>
              <a:buSzPct val="100000"/>
              <a:buFont typeface="+mj-lt"/>
              <a:buAutoNum type="arabicPeriod" startAt="5"/>
            </a:pPr>
            <a:r>
              <a:rPr lang="en-US" sz="1100" dirty="0">
                <a:solidFill>
                  <a:srgbClr val="CFD0D8"/>
                </a:solidFill>
                <a:latin typeface="Instrument Sans Medium" pitchFamily="34" charset="0"/>
                <a:ea typeface="Instrument Sans Medium" pitchFamily="34" charset="-122"/>
                <a:cs typeface="Instrument Sans Medium" pitchFamily="34" charset="-120"/>
              </a:rPr>
              <a:t>Manar Nady Helmy</a:t>
            </a:r>
            <a:endParaRPr lang="en-US" sz="1100" dirty="0"/>
          </a:p>
          <a:p>
            <a:pPr marL="342900" indent="-342900" algn="l">
              <a:lnSpc>
                <a:spcPts val="1750"/>
              </a:lnSpc>
              <a:buSzPct val="100000"/>
              <a:buFont typeface="+mj-lt"/>
              <a:buAutoNum type="arabicPeriod" startAt="6"/>
            </a:pPr>
            <a:r>
              <a:rPr lang="en-US" sz="1100" dirty="0">
                <a:solidFill>
                  <a:srgbClr val="CFD0D8"/>
                </a:solidFill>
                <a:latin typeface="Instrument Sans Medium" pitchFamily="34" charset="0"/>
                <a:ea typeface="Instrument Sans Medium" pitchFamily="34" charset="-122"/>
                <a:cs typeface="Instrument Sans Medium" pitchFamily="34" charset="-120"/>
              </a:rPr>
              <a:t>Menna Mohamed Abdel Moez Rashad</a:t>
            </a:r>
            <a:endParaRPr lang="en-US" sz="1100" dirty="0"/>
          </a:p>
          <a:p>
            <a:pPr marL="342900" indent="-342900" algn="l">
              <a:lnSpc>
                <a:spcPts val="1750"/>
              </a:lnSpc>
              <a:buSzPct val="100000"/>
              <a:buFont typeface="+mj-lt"/>
              <a:buAutoNum type="arabicPeriod" startAt="7"/>
            </a:pPr>
            <a:r>
              <a:rPr lang="en-US" sz="1100" dirty="0">
                <a:solidFill>
                  <a:srgbClr val="CFD0D8"/>
                </a:solidFill>
                <a:latin typeface="Instrument Sans Medium" pitchFamily="34" charset="0"/>
                <a:ea typeface="Instrument Sans Medium" pitchFamily="34" charset="-122"/>
                <a:cs typeface="Instrument Sans Medium" pitchFamily="34" charset="-120"/>
              </a:rPr>
              <a:t>Abdelrahman Hany Issa</a:t>
            </a:r>
            <a:endParaRPr lang="en-US" sz="1100" dirty="0"/>
          </a:p>
          <a:p>
            <a:pPr marL="342900" indent="-342900" algn="l">
              <a:lnSpc>
                <a:spcPts val="1750"/>
              </a:lnSpc>
              <a:buSzPct val="100000"/>
              <a:buFont typeface="+mj-lt"/>
              <a:buAutoNum type="arabicPeriod" startAt="8"/>
            </a:pPr>
            <a:r>
              <a:rPr lang="en-US" sz="1100" dirty="0">
                <a:solidFill>
                  <a:srgbClr val="CFD0D8"/>
                </a:solidFill>
                <a:latin typeface="Instrument Sans Medium" pitchFamily="34" charset="0"/>
                <a:ea typeface="Instrument Sans Medium" pitchFamily="34" charset="-122"/>
                <a:cs typeface="Instrument Sans Medium" pitchFamily="34" charset="-120"/>
              </a:rPr>
              <a:t>Ali Zaki Ali</a:t>
            </a:r>
            <a:endParaRPr lang="en-US" sz="1100" dirty="0"/>
          </a:p>
          <a:p>
            <a:pPr marL="342900" indent="-342900" algn="l">
              <a:lnSpc>
                <a:spcPts val="1750"/>
              </a:lnSpc>
              <a:buSzPct val="100000"/>
              <a:buFont typeface="+mj-lt"/>
              <a:buAutoNum type="arabicPeriod" startAt="9"/>
            </a:pPr>
            <a:r>
              <a:rPr lang="en-US" sz="1100" dirty="0">
                <a:solidFill>
                  <a:srgbClr val="CFD0D8"/>
                </a:solidFill>
                <a:latin typeface="Instrument Sans Medium" pitchFamily="34" charset="0"/>
                <a:ea typeface="Instrument Sans Medium" pitchFamily="34" charset="-122"/>
                <a:cs typeface="Instrument Sans Medium" pitchFamily="34" charset="-120"/>
              </a:rPr>
              <a:t>Mayar Milad Atef</a:t>
            </a:r>
            <a:endParaRPr lang="en-US" sz="1100" dirty="0"/>
          </a:p>
          <a:p>
            <a:pPr marL="342900" indent="-342900" algn="l">
              <a:lnSpc>
                <a:spcPts val="1750"/>
              </a:lnSpc>
              <a:buSzPct val="100000"/>
              <a:buFont typeface="+mj-lt"/>
              <a:buAutoNum type="arabicPeriod" startAt="10"/>
            </a:pPr>
            <a:r>
              <a:rPr lang="en-US" sz="1100" dirty="0">
                <a:solidFill>
                  <a:srgbClr val="CFD0D8"/>
                </a:solidFill>
                <a:latin typeface="Instrument Sans Medium" pitchFamily="34" charset="0"/>
                <a:ea typeface="Instrument Sans Medium" pitchFamily="34" charset="-122"/>
                <a:cs typeface="Instrument Sans Medium" pitchFamily="34" charset="-120"/>
              </a:rPr>
              <a:t>Abdelrahman Mostafa Ibrahim</a:t>
            </a:r>
            <a:endParaRPr lang="en-US" sz="1100" dirty="0"/>
          </a:p>
          <a:p>
            <a:pPr marL="342900" indent="-342900" algn="l">
              <a:lnSpc>
                <a:spcPts val="1750"/>
              </a:lnSpc>
              <a:buSzPct val="100000"/>
              <a:buFont typeface="+mj-lt"/>
              <a:buAutoNum type="arabicPeriod" startAt="11"/>
            </a:pPr>
            <a:r>
              <a:rPr lang="en-US" sz="1100" dirty="0">
                <a:solidFill>
                  <a:srgbClr val="CFD0D8"/>
                </a:solidFill>
                <a:latin typeface="Instrument Sans Medium" pitchFamily="34" charset="0"/>
                <a:ea typeface="Instrument Sans Medium" pitchFamily="34" charset="-122"/>
                <a:cs typeface="Instrument Sans Medium" pitchFamily="34" charset="-120"/>
              </a:rPr>
              <a:t>Mohamed Ayman Abdel Aziz</a:t>
            </a:r>
            <a:endParaRPr lang="en-US" sz="1100" dirty="0"/>
          </a:p>
        </p:txBody>
      </p:sp>
      <p:sp>
        <p:nvSpPr>
          <p:cNvPr id="5" name="Arrow: Notched Right 4">
            <a:extLst>
              <a:ext uri="{FF2B5EF4-FFF2-40B4-BE49-F238E27FC236}">
                <a16:creationId xmlns:a16="http://schemas.microsoft.com/office/drawing/2014/main" id="{72A2EFB5-70DB-49F3-5638-5CFF47BF2700}"/>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84386"/>
            <a:ext cx="3544119"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Project Overview</a:t>
            </a:r>
            <a:endParaRPr lang="en-US" sz="2750" dirty="0"/>
          </a:p>
        </p:txBody>
      </p:sp>
      <p:sp>
        <p:nvSpPr>
          <p:cNvPr id="3" name="Text 1"/>
          <p:cNvSpPr/>
          <p:nvPr/>
        </p:nvSpPr>
        <p:spPr>
          <a:xfrm>
            <a:off x="496119" y="1481733"/>
            <a:ext cx="2126456" cy="265807"/>
          </a:xfrm>
          <a:prstGeom prst="rect">
            <a:avLst/>
          </a:prstGeom>
          <a:noFill/>
          <a:ln/>
        </p:spPr>
        <p:txBody>
          <a:bodyPr wrap="none" lIns="0" tIns="0" rIns="0" bIns="0" rtlCol="0" anchor="t"/>
          <a:lstStyle/>
          <a:p>
            <a:pPr marL="0" indent="0" algn="l">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What It Does</a:t>
            </a:r>
            <a:endParaRPr lang="en-US" sz="1650" dirty="0"/>
          </a:p>
        </p:txBody>
      </p:sp>
      <p:sp>
        <p:nvSpPr>
          <p:cNvPr id="4" name="Text 2"/>
          <p:cNvSpPr/>
          <p:nvPr/>
        </p:nvSpPr>
        <p:spPr>
          <a:xfrm>
            <a:off x="496119" y="1889299"/>
            <a:ext cx="4752677" cy="907256"/>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The Smart Stick for the Blind is an IoT-based assistive device that detects obstacles and alerts users through audible and visual signals. By integrating an ultrasonic sensor with an Arduino microcontroller, it enhances the independence of visually impaired individuals.</a:t>
            </a:r>
            <a:endParaRPr lang="en-US" sz="1100" dirty="0"/>
          </a:p>
        </p:txBody>
      </p:sp>
      <p:sp>
        <p:nvSpPr>
          <p:cNvPr id="5" name="Text 3"/>
          <p:cNvSpPr/>
          <p:nvPr/>
        </p:nvSpPr>
        <p:spPr>
          <a:xfrm>
            <a:off x="496119" y="2938314"/>
            <a:ext cx="2126456" cy="265807"/>
          </a:xfrm>
          <a:prstGeom prst="rect">
            <a:avLst/>
          </a:prstGeom>
          <a:noFill/>
          <a:ln/>
        </p:spPr>
        <p:txBody>
          <a:bodyPr wrap="none" lIns="0" tIns="0" rIns="0" bIns="0" rtlCol="0" anchor="t"/>
          <a:lstStyle/>
          <a:p>
            <a:pPr marL="0" indent="0" algn="l">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How It Works</a:t>
            </a:r>
            <a:endParaRPr lang="en-US" sz="1650" dirty="0"/>
          </a:p>
        </p:txBody>
      </p:sp>
      <p:sp>
        <p:nvSpPr>
          <p:cNvPr id="6" name="Text 4"/>
          <p:cNvSpPr/>
          <p:nvPr/>
        </p:nvSpPr>
        <p:spPr>
          <a:xfrm>
            <a:off x="496119" y="3345879"/>
            <a:ext cx="4752677" cy="1063675"/>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CFD0D8"/>
                </a:solidFill>
                <a:latin typeface="Instrument Sans Medium" pitchFamily="34" charset="0"/>
                <a:ea typeface="Instrument Sans Medium" pitchFamily="34" charset="-122"/>
                <a:cs typeface="Instrument Sans Medium" pitchFamily="34" charset="-120"/>
              </a:rPr>
              <a:t>HC-SR04 sensor emits sound pulses and measures echo return time</a:t>
            </a:r>
            <a:endParaRPr lang="en-US" sz="1100" dirty="0"/>
          </a:p>
          <a:p>
            <a:pPr marL="342900" indent="-342900" algn="l">
              <a:lnSpc>
                <a:spcPts val="1750"/>
              </a:lnSpc>
              <a:buSzPct val="100000"/>
              <a:buChar char="•"/>
            </a:pPr>
            <a:r>
              <a:rPr lang="en-US" sz="1100" dirty="0">
                <a:solidFill>
                  <a:srgbClr val="CFD0D8"/>
                </a:solidFill>
                <a:latin typeface="Instrument Sans Medium" pitchFamily="34" charset="0"/>
                <a:ea typeface="Instrument Sans Medium" pitchFamily="34" charset="-122"/>
                <a:cs typeface="Instrument Sans Medium" pitchFamily="34" charset="-120"/>
              </a:rPr>
              <a:t>Arduino calculates distance using: </a:t>
            </a:r>
            <a:r>
              <a:rPr lang="en-US" sz="1100" i="1" dirty="0">
                <a:solidFill>
                  <a:srgbClr val="CFD0D8"/>
                </a:solidFill>
                <a:latin typeface="Instrument Sans Medium" pitchFamily="34" charset="0"/>
                <a:ea typeface="Instrument Sans Medium" pitchFamily="34" charset="-122"/>
                <a:cs typeface="Instrument Sans Medium" pitchFamily="34" charset="-120"/>
              </a:rPr>
              <a:t>distance = duration \times 0.034 / 2</a:t>
            </a:r>
            <a:endParaRPr lang="en-US" sz="1100" dirty="0"/>
          </a:p>
          <a:p>
            <a:pPr marL="342900" indent="-342900" algn="l">
              <a:lnSpc>
                <a:spcPts val="1750"/>
              </a:lnSpc>
              <a:buSzPct val="100000"/>
              <a:buChar char="•"/>
            </a:pPr>
            <a:r>
              <a:rPr lang="en-US" sz="1100" dirty="0">
                <a:solidFill>
                  <a:srgbClr val="CFD0D8"/>
                </a:solidFill>
                <a:latin typeface="Instrument Sans Medium" pitchFamily="34" charset="0"/>
                <a:ea typeface="Instrument Sans Medium" pitchFamily="34" charset="-122"/>
                <a:cs typeface="Instrument Sans Medium" pitchFamily="34" charset="-120"/>
              </a:rPr>
              <a:t>Obstacles ≤20 cm trigger buzzer and LED alert</a:t>
            </a:r>
            <a:endParaRPr lang="en-US" sz="1100" dirty="0"/>
          </a:p>
          <a:p>
            <a:pPr marL="342900" indent="-342900" algn="l">
              <a:lnSpc>
                <a:spcPts val="1750"/>
              </a:lnSpc>
              <a:buSzPct val="100000"/>
              <a:buChar char="•"/>
            </a:pPr>
            <a:r>
              <a:rPr lang="en-US" sz="1100" dirty="0">
                <a:solidFill>
                  <a:srgbClr val="CFD0D8"/>
                </a:solidFill>
                <a:latin typeface="Instrument Sans Medium" pitchFamily="34" charset="0"/>
                <a:ea typeface="Instrument Sans Medium" pitchFamily="34" charset="-122"/>
                <a:cs typeface="Instrument Sans Medium" pitchFamily="34" charset="-120"/>
              </a:rPr>
              <a:t>Clear path (&gt;20 cm) turns off alerts</a:t>
            </a:r>
            <a:endParaRPr lang="en-US" sz="1100" dirty="0"/>
          </a:p>
        </p:txBody>
      </p:sp>
      <p:pic>
        <p:nvPicPr>
          <p:cNvPr id="7" name="Image 0" descr="preencoded.png"/>
          <p:cNvPicPr>
            <a:picLocks noChangeAspect="1"/>
          </p:cNvPicPr>
          <p:nvPr/>
        </p:nvPicPr>
        <p:blipFill>
          <a:blip r:embed="rId3"/>
          <a:stretch>
            <a:fillRect/>
          </a:stretch>
        </p:blipFill>
        <p:spPr>
          <a:xfrm>
            <a:off x="5599435" y="1754609"/>
            <a:ext cx="3053135" cy="2289795"/>
          </a:xfrm>
          <a:prstGeom prst="rect">
            <a:avLst/>
          </a:prstGeom>
        </p:spPr>
      </p:pic>
      <p:sp>
        <p:nvSpPr>
          <p:cNvPr id="8" name="Arrow: Notched Right 7">
            <a:extLst>
              <a:ext uri="{FF2B5EF4-FFF2-40B4-BE49-F238E27FC236}">
                <a16:creationId xmlns:a16="http://schemas.microsoft.com/office/drawing/2014/main" id="{4A052EFD-1373-0E48-8AE9-FB01BC49A8BE}"/>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17401"/>
            <a:ext cx="4973092"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Components &amp; Specifications</a:t>
            </a:r>
            <a:endParaRPr lang="en-US" sz="2750" dirty="0"/>
          </a:p>
        </p:txBody>
      </p:sp>
      <p:sp>
        <p:nvSpPr>
          <p:cNvPr id="3" name="Shape 1"/>
          <p:cNvSpPr/>
          <p:nvPr/>
        </p:nvSpPr>
        <p:spPr>
          <a:xfrm>
            <a:off x="496119" y="1243905"/>
            <a:ext cx="1931566" cy="1847031"/>
          </a:xfrm>
          <a:prstGeom prst="roundRect">
            <a:avLst>
              <a:gd name="adj" fmla="val 3224"/>
            </a:avLst>
          </a:prstGeom>
          <a:solidFill>
            <a:srgbClr val="3D3D42"/>
          </a:solidFill>
          <a:ln w="4763">
            <a:solidFill>
              <a:srgbClr val="56565B"/>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42640" y="1390427"/>
            <a:ext cx="425276" cy="425276"/>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619" y="1507331"/>
            <a:ext cx="191319" cy="191319"/>
          </a:xfrm>
          <a:prstGeom prst="rect">
            <a:avLst/>
          </a:prstGeom>
        </p:spPr>
      </p:pic>
      <p:sp>
        <p:nvSpPr>
          <p:cNvPr id="6" name="Text 2"/>
          <p:cNvSpPr/>
          <p:nvPr/>
        </p:nvSpPr>
        <p:spPr>
          <a:xfrm>
            <a:off x="642640" y="1957462"/>
            <a:ext cx="1638523" cy="221456"/>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Instrument Sans Semi Bold" pitchFamily="34" charset="0"/>
                <a:ea typeface="Instrument Sans Semi Bold" pitchFamily="34" charset="-122"/>
                <a:cs typeface="Instrument Sans Semi Bold" pitchFamily="34" charset="-120"/>
              </a:rPr>
              <a:t>Arduino UNO</a:t>
            </a:r>
            <a:endParaRPr lang="en-US" sz="1350" dirty="0"/>
          </a:p>
        </p:txBody>
      </p:sp>
      <p:sp>
        <p:nvSpPr>
          <p:cNvPr id="7" name="Text 3"/>
          <p:cNvSpPr/>
          <p:nvPr/>
        </p:nvSpPr>
        <p:spPr>
          <a:xfrm>
            <a:off x="642640" y="2263973"/>
            <a:ext cx="1638523" cy="680442"/>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Main processing unit for sensor data and alert control</a:t>
            </a:r>
            <a:endParaRPr lang="en-US" sz="1100" dirty="0"/>
          </a:p>
        </p:txBody>
      </p:sp>
      <p:sp>
        <p:nvSpPr>
          <p:cNvPr id="8" name="Shape 4"/>
          <p:cNvSpPr/>
          <p:nvPr/>
        </p:nvSpPr>
        <p:spPr>
          <a:xfrm>
            <a:off x="2569443" y="1243905"/>
            <a:ext cx="1931640" cy="1847031"/>
          </a:xfrm>
          <a:prstGeom prst="roundRect">
            <a:avLst>
              <a:gd name="adj" fmla="val 3224"/>
            </a:avLst>
          </a:prstGeom>
          <a:solidFill>
            <a:srgbClr val="3D3D42"/>
          </a:solidFill>
          <a:ln w="4763">
            <a:solidFill>
              <a:srgbClr val="56565B"/>
            </a:solidFill>
            <a:prstDash val="solid"/>
          </a:ln>
        </p:spPr>
        <p:txBody>
          <a:bodyPr/>
          <a:lstStyle/>
          <a:p>
            <a:endParaRPr lang="en-US"/>
          </a:p>
        </p:txBody>
      </p:sp>
      <p:pic>
        <p:nvPicPr>
          <p:cNvPr id="9" name="Image 2" descr="preencoded.png"/>
          <p:cNvPicPr>
            <a:picLocks noChangeAspect="1"/>
          </p:cNvPicPr>
          <p:nvPr/>
        </p:nvPicPr>
        <p:blipFill>
          <a:blip r:embed="rId5"/>
          <a:stretch>
            <a:fillRect/>
          </a:stretch>
        </p:blipFill>
        <p:spPr>
          <a:xfrm>
            <a:off x="2715964" y="1390427"/>
            <a:ext cx="425276" cy="425276"/>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32943" y="1507331"/>
            <a:ext cx="191319" cy="191319"/>
          </a:xfrm>
          <a:prstGeom prst="rect">
            <a:avLst/>
          </a:prstGeom>
        </p:spPr>
      </p:pic>
      <p:sp>
        <p:nvSpPr>
          <p:cNvPr id="11" name="Text 5"/>
          <p:cNvSpPr/>
          <p:nvPr/>
        </p:nvSpPr>
        <p:spPr>
          <a:xfrm>
            <a:off x="2715964" y="1957462"/>
            <a:ext cx="1638598" cy="221456"/>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Instrument Sans Semi Bold" pitchFamily="34" charset="0"/>
                <a:ea typeface="Instrument Sans Semi Bold" pitchFamily="34" charset="-122"/>
                <a:cs typeface="Instrument Sans Semi Bold" pitchFamily="34" charset="-120"/>
              </a:rPr>
              <a:t>HC-SR04 Sensor</a:t>
            </a:r>
            <a:endParaRPr lang="en-US" sz="1350" dirty="0"/>
          </a:p>
        </p:txBody>
      </p:sp>
      <p:sp>
        <p:nvSpPr>
          <p:cNvPr id="12" name="Text 6"/>
          <p:cNvSpPr/>
          <p:nvPr/>
        </p:nvSpPr>
        <p:spPr>
          <a:xfrm>
            <a:off x="2715964" y="2263973"/>
            <a:ext cx="1638598" cy="680442"/>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Ultrasonic sensor for continuous distance measurement</a:t>
            </a:r>
            <a:endParaRPr lang="en-US" sz="1100" dirty="0"/>
          </a:p>
        </p:txBody>
      </p:sp>
      <p:sp>
        <p:nvSpPr>
          <p:cNvPr id="13" name="Shape 7"/>
          <p:cNvSpPr/>
          <p:nvPr/>
        </p:nvSpPr>
        <p:spPr>
          <a:xfrm>
            <a:off x="4642842" y="1243905"/>
            <a:ext cx="1931640" cy="1847031"/>
          </a:xfrm>
          <a:prstGeom prst="roundRect">
            <a:avLst>
              <a:gd name="adj" fmla="val 3224"/>
            </a:avLst>
          </a:prstGeom>
          <a:solidFill>
            <a:srgbClr val="3D3D42"/>
          </a:solidFill>
          <a:ln w="4763">
            <a:solidFill>
              <a:srgbClr val="56565B"/>
            </a:solidFill>
            <a:prstDash val="solid"/>
          </a:ln>
        </p:spPr>
        <p:txBody>
          <a:bodyPr/>
          <a:lstStyle/>
          <a:p>
            <a:endParaRPr lang="en-US"/>
          </a:p>
        </p:txBody>
      </p:sp>
      <p:pic>
        <p:nvPicPr>
          <p:cNvPr id="14" name="Image 4" descr="preencoded.png"/>
          <p:cNvPicPr>
            <a:picLocks noChangeAspect="1"/>
          </p:cNvPicPr>
          <p:nvPr/>
        </p:nvPicPr>
        <p:blipFill>
          <a:blip r:embed="rId7"/>
          <a:stretch>
            <a:fillRect/>
          </a:stretch>
        </p:blipFill>
        <p:spPr>
          <a:xfrm>
            <a:off x="4789363" y="1390427"/>
            <a:ext cx="425276" cy="425276"/>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06342" y="1507331"/>
            <a:ext cx="191319" cy="191319"/>
          </a:xfrm>
          <a:prstGeom prst="rect">
            <a:avLst/>
          </a:prstGeom>
        </p:spPr>
      </p:pic>
      <p:sp>
        <p:nvSpPr>
          <p:cNvPr id="16" name="Text 8"/>
          <p:cNvSpPr/>
          <p:nvPr/>
        </p:nvSpPr>
        <p:spPr>
          <a:xfrm>
            <a:off x="4789363" y="1957462"/>
            <a:ext cx="1638598" cy="221456"/>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Instrument Sans Semi Bold" pitchFamily="34" charset="0"/>
                <a:ea typeface="Instrument Sans Semi Bold" pitchFamily="34" charset="-122"/>
                <a:cs typeface="Instrument Sans Semi Bold" pitchFamily="34" charset="-120"/>
              </a:rPr>
              <a:t>Active Buzzer</a:t>
            </a:r>
            <a:endParaRPr lang="en-US" sz="1350" dirty="0"/>
          </a:p>
        </p:txBody>
      </p:sp>
      <p:sp>
        <p:nvSpPr>
          <p:cNvPr id="17" name="Text 9"/>
          <p:cNvSpPr/>
          <p:nvPr/>
        </p:nvSpPr>
        <p:spPr>
          <a:xfrm>
            <a:off x="4789363" y="2263973"/>
            <a:ext cx="1638598" cy="680442"/>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Audible alert output when obstacles are detected</a:t>
            </a:r>
            <a:endParaRPr lang="en-US" sz="1100" dirty="0"/>
          </a:p>
        </p:txBody>
      </p:sp>
      <p:sp>
        <p:nvSpPr>
          <p:cNvPr id="18" name="Shape 10"/>
          <p:cNvSpPr/>
          <p:nvPr/>
        </p:nvSpPr>
        <p:spPr>
          <a:xfrm>
            <a:off x="6716241" y="1243905"/>
            <a:ext cx="1931640" cy="1847031"/>
          </a:xfrm>
          <a:prstGeom prst="roundRect">
            <a:avLst>
              <a:gd name="adj" fmla="val 3224"/>
            </a:avLst>
          </a:prstGeom>
          <a:solidFill>
            <a:srgbClr val="3D3D42"/>
          </a:solidFill>
          <a:ln w="4763">
            <a:solidFill>
              <a:srgbClr val="56565B"/>
            </a:solidFill>
            <a:prstDash val="solid"/>
          </a:ln>
        </p:spPr>
        <p:txBody>
          <a:bodyPr/>
          <a:lstStyle/>
          <a:p>
            <a:endParaRPr lang="en-US"/>
          </a:p>
        </p:txBody>
      </p:sp>
      <p:pic>
        <p:nvPicPr>
          <p:cNvPr id="19" name="Image 6" descr="preencoded.png"/>
          <p:cNvPicPr>
            <a:picLocks noChangeAspect="1"/>
          </p:cNvPicPr>
          <p:nvPr/>
        </p:nvPicPr>
        <p:blipFill>
          <a:blip r:embed="rId9"/>
          <a:stretch>
            <a:fillRect/>
          </a:stretch>
        </p:blipFill>
        <p:spPr>
          <a:xfrm>
            <a:off x="6862763" y="1390427"/>
            <a:ext cx="425276" cy="425276"/>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79741" y="1507331"/>
            <a:ext cx="191319" cy="191319"/>
          </a:xfrm>
          <a:prstGeom prst="rect">
            <a:avLst/>
          </a:prstGeom>
        </p:spPr>
      </p:pic>
      <p:sp>
        <p:nvSpPr>
          <p:cNvPr id="21" name="Text 11"/>
          <p:cNvSpPr/>
          <p:nvPr/>
        </p:nvSpPr>
        <p:spPr>
          <a:xfrm>
            <a:off x="6862763" y="1957462"/>
            <a:ext cx="1638598" cy="221456"/>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Instrument Sans Semi Bold" pitchFamily="34" charset="0"/>
                <a:ea typeface="Instrument Sans Semi Bold" pitchFamily="34" charset="-122"/>
                <a:cs typeface="Instrument Sans Semi Bold" pitchFamily="34" charset="-120"/>
              </a:rPr>
              <a:t>Red LED</a:t>
            </a:r>
            <a:endParaRPr lang="en-US" sz="1350" dirty="0"/>
          </a:p>
        </p:txBody>
      </p:sp>
      <p:sp>
        <p:nvSpPr>
          <p:cNvPr id="22" name="Text 12"/>
          <p:cNvSpPr/>
          <p:nvPr/>
        </p:nvSpPr>
        <p:spPr>
          <a:xfrm>
            <a:off x="6862763" y="2263973"/>
            <a:ext cx="1638598" cy="680442"/>
          </a:xfrm>
          <a:prstGeom prst="rect">
            <a:avLst/>
          </a:prstGeom>
          <a:noFill/>
          <a:ln/>
        </p:spPr>
        <p:txBody>
          <a:bodyPr wrap="squar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Visual indicator with 220Ω current limiting resistor</a:t>
            </a:r>
            <a:endParaRPr lang="en-US" sz="1100" dirty="0"/>
          </a:p>
        </p:txBody>
      </p:sp>
      <p:sp>
        <p:nvSpPr>
          <p:cNvPr id="23" name="Shape 13"/>
          <p:cNvSpPr/>
          <p:nvPr/>
        </p:nvSpPr>
        <p:spPr>
          <a:xfrm>
            <a:off x="496119" y="3232696"/>
            <a:ext cx="8151763" cy="1393403"/>
          </a:xfrm>
          <a:prstGeom prst="roundRect">
            <a:avLst>
              <a:gd name="adj" fmla="val 4273"/>
            </a:avLst>
          </a:prstGeom>
          <a:solidFill>
            <a:srgbClr val="3D3D42"/>
          </a:solidFill>
          <a:ln w="4763">
            <a:solidFill>
              <a:srgbClr val="56565B"/>
            </a:solidFill>
            <a:prstDash val="solid"/>
          </a:ln>
        </p:spPr>
        <p:txBody>
          <a:bodyPr/>
          <a:lstStyle/>
          <a:p>
            <a:endParaRPr lang="en-US"/>
          </a:p>
        </p:txBody>
      </p:sp>
      <p:pic>
        <p:nvPicPr>
          <p:cNvPr id="24" name="Image 8" descr="preencoded.png"/>
          <p:cNvPicPr>
            <a:picLocks noChangeAspect="1"/>
          </p:cNvPicPr>
          <p:nvPr/>
        </p:nvPicPr>
        <p:blipFill>
          <a:blip r:embed="rId11"/>
          <a:stretch>
            <a:fillRect/>
          </a:stretch>
        </p:blipFill>
        <p:spPr>
          <a:xfrm>
            <a:off x="642640" y="3379217"/>
            <a:ext cx="425276" cy="425276"/>
          </a:xfrm>
          <a:prstGeom prst="rect">
            <a:avLst/>
          </a:prstGeom>
        </p:spPr>
      </p:pic>
      <p:pic>
        <p:nvPicPr>
          <p:cNvPr id="25"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59619" y="3496121"/>
            <a:ext cx="191319" cy="191319"/>
          </a:xfrm>
          <a:prstGeom prst="rect">
            <a:avLst/>
          </a:prstGeom>
        </p:spPr>
      </p:pic>
      <p:sp>
        <p:nvSpPr>
          <p:cNvPr id="26" name="Text 14"/>
          <p:cNvSpPr/>
          <p:nvPr/>
        </p:nvSpPr>
        <p:spPr>
          <a:xfrm>
            <a:off x="642640" y="3946252"/>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Instrument Sans Semi Bold" pitchFamily="34" charset="0"/>
                <a:ea typeface="Instrument Sans Semi Bold" pitchFamily="34" charset="-122"/>
                <a:cs typeface="Instrument Sans Semi Bold" pitchFamily="34" charset="-120"/>
              </a:rPr>
              <a:t>Breadboard &amp; Wires</a:t>
            </a:r>
            <a:endParaRPr lang="en-US" sz="1350" dirty="0"/>
          </a:p>
        </p:txBody>
      </p:sp>
      <p:sp>
        <p:nvSpPr>
          <p:cNvPr id="27" name="Text 15"/>
          <p:cNvSpPr/>
          <p:nvPr/>
        </p:nvSpPr>
        <p:spPr>
          <a:xfrm>
            <a:off x="642640" y="4252764"/>
            <a:ext cx="7858720"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Circuit assembly and component connections</a:t>
            </a:r>
            <a:endParaRPr lang="en-US" sz="1100" dirty="0"/>
          </a:p>
        </p:txBody>
      </p:sp>
      <p:sp>
        <p:nvSpPr>
          <p:cNvPr id="28" name="Arrow: Notched Right 27">
            <a:extLst>
              <a:ext uri="{FF2B5EF4-FFF2-40B4-BE49-F238E27FC236}">
                <a16:creationId xmlns:a16="http://schemas.microsoft.com/office/drawing/2014/main" id="{ACF79ABF-6559-8DD4-12D9-1C1665307677}"/>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588020"/>
            <a:ext cx="5176838"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Circuit Diagram &amp; Connections</a:t>
            </a:r>
            <a:endParaRPr lang="en-US" sz="2750" dirty="0"/>
          </a:p>
        </p:txBody>
      </p:sp>
      <p:sp>
        <p:nvSpPr>
          <p:cNvPr id="3" name="Text 1"/>
          <p:cNvSpPr/>
          <p:nvPr/>
        </p:nvSpPr>
        <p:spPr>
          <a:xfrm>
            <a:off x="496119" y="1314524"/>
            <a:ext cx="815176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The circuit connects HC-SR04 sensor, buzzer, and LED to Arduino UNO on a breadboard.</a:t>
            </a:r>
            <a:endParaRPr lang="en-US" sz="1100" dirty="0"/>
          </a:p>
        </p:txBody>
      </p:sp>
      <p:sp>
        <p:nvSpPr>
          <p:cNvPr id="4" name="Shape 2"/>
          <p:cNvSpPr/>
          <p:nvPr/>
        </p:nvSpPr>
        <p:spPr>
          <a:xfrm>
            <a:off x="496119" y="1700808"/>
            <a:ext cx="8151763" cy="2854672"/>
          </a:xfrm>
          <a:prstGeom prst="roundRect">
            <a:avLst>
              <a:gd name="adj" fmla="val 2086"/>
            </a:avLst>
          </a:prstGeom>
          <a:noFill/>
          <a:ln w="4763">
            <a:solidFill>
              <a:srgbClr val="FFFFFF">
                <a:alpha val="24000"/>
              </a:srgbClr>
            </a:solidFill>
            <a:prstDash val="solid"/>
          </a:ln>
        </p:spPr>
        <p:txBody>
          <a:bodyPr/>
          <a:lstStyle/>
          <a:p>
            <a:endParaRPr lang="en-US"/>
          </a:p>
        </p:txBody>
      </p:sp>
      <p:sp>
        <p:nvSpPr>
          <p:cNvPr id="5" name="Shape 3"/>
          <p:cNvSpPr/>
          <p:nvPr/>
        </p:nvSpPr>
        <p:spPr>
          <a:xfrm>
            <a:off x="500881" y="1705570"/>
            <a:ext cx="8142238" cy="406450"/>
          </a:xfrm>
          <a:prstGeom prst="rect">
            <a:avLst/>
          </a:prstGeom>
          <a:solidFill>
            <a:srgbClr val="FFFFFF">
              <a:alpha val="4000"/>
            </a:srgbClr>
          </a:solidFill>
          <a:ln/>
        </p:spPr>
        <p:txBody>
          <a:bodyPr/>
          <a:lstStyle/>
          <a:p>
            <a:endParaRPr lang="en-US"/>
          </a:p>
        </p:txBody>
      </p:sp>
      <p:sp>
        <p:nvSpPr>
          <p:cNvPr id="6" name="Text 4"/>
          <p:cNvSpPr/>
          <p:nvPr/>
        </p:nvSpPr>
        <p:spPr>
          <a:xfrm>
            <a:off x="642714" y="1795388"/>
            <a:ext cx="2156743" cy="226814"/>
          </a:xfrm>
          <a:prstGeom prst="rect">
            <a:avLst/>
          </a:prstGeom>
          <a:noFill/>
          <a:ln/>
        </p:spPr>
        <p:txBody>
          <a:bodyPr wrap="none" lIns="0" tIns="0" rIns="0" bIns="0" rtlCol="0" anchor="t"/>
          <a:lstStyle/>
          <a:p>
            <a:pPr marL="0" indent="0" algn="l">
              <a:lnSpc>
                <a:spcPts val="1750"/>
              </a:lnSpc>
              <a:buNone/>
            </a:pPr>
            <a:r>
              <a:rPr lang="en-US" sz="1100" b="1" dirty="0">
                <a:solidFill>
                  <a:srgbClr val="CFD0D8"/>
                </a:solidFill>
                <a:latin typeface="Instrument Sans Medium" pitchFamily="34" charset="0"/>
                <a:ea typeface="Instrument Sans Medium" pitchFamily="34" charset="-122"/>
                <a:cs typeface="Instrument Sans Medium" pitchFamily="34" charset="-120"/>
              </a:rPr>
              <a:t>Component</a:t>
            </a:r>
            <a:endParaRPr lang="en-US" sz="1100" dirty="0"/>
          </a:p>
        </p:txBody>
      </p:sp>
      <p:sp>
        <p:nvSpPr>
          <p:cNvPr id="7" name="Text 5"/>
          <p:cNvSpPr/>
          <p:nvPr/>
        </p:nvSpPr>
        <p:spPr>
          <a:xfrm>
            <a:off x="3087737" y="1795388"/>
            <a:ext cx="2561481" cy="226814"/>
          </a:xfrm>
          <a:prstGeom prst="rect">
            <a:avLst/>
          </a:prstGeom>
          <a:noFill/>
          <a:ln/>
        </p:spPr>
        <p:txBody>
          <a:bodyPr wrap="none" lIns="0" tIns="0" rIns="0" bIns="0" rtlCol="0" anchor="t"/>
          <a:lstStyle/>
          <a:p>
            <a:pPr marL="0" indent="0" algn="l">
              <a:lnSpc>
                <a:spcPts val="1750"/>
              </a:lnSpc>
              <a:buNone/>
            </a:pPr>
            <a:r>
              <a:rPr lang="en-US" sz="1100" b="1" dirty="0">
                <a:solidFill>
                  <a:srgbClr val="CFD0D8"/>
                </a:solidFill>
                <a:latin typeface="Instrument Sans Medium" pitchFamily="34" charset="0"/>
                <a:ea typeface="Instrument Sans Medium" pitchFamily="34" charset="-122"/>
                <a:cs typeface="Instrument Sans Medium" pitchFamily="34" charset="-120"/>
              </a:rPr>
              <a:t>Arduino Pin</a:t>
            </a:r>
            <a:endParaRPr lang="en-US" sz="1100" dirty="0"/>
          </a:p>
        </p:txBody>
      </p:sp>
      <p:sp>
        <p:nvSpPr>
          <p:cNvPr id="8" name="Text 6"/>
          <p:cNvSpPr/>
          <p:nvPr/>
        </p:nvSpPr>
        <p:spPr>
          <a:xfrm>
            <a:off x="5937498" y="1795388"/>
            <a:ext cx="2563862" cy="226814"/>
          </a:xfrm>
          <a:prstGeom prst="rect">
            <a:avLst/>
          </a:prstGeom>
          <a:noFill/>
          <a:ln/>
        </p:spPr>
        <p:txBody>
          <a:bodyPr wrap="none" lIns="0" tIns="0" rIns="0" bIns="0" rtlCol="0" anchor="t"/>
          <a:lstStyle/>
          <a:p>
            <a:pPr marL="0" indent="0" algn="l">
              <a:lnSpc>
                <a:spcPts val="1750"/>
              </a:lnSpc>
              <a:buNone/>
            </a:pPr>
            <a:r>
              <a:rPr lang="en-US" sz="1100" b="1" dirty="0">
                <a:solidFill>
                  <a:srgbClr val="CFD0D8"/>
                </a:solidFill>
                <a:latin typeface="Instrument Sans Medium" pitchFamily="34" charset="0"/>
                <a:ea typeface="Instrument Sans Medium" pitchFamily="34" charset="-122"/>
                <a:cs typeface="Instrument Sans Medium" pitchFamily="34" charset="-120"/>
              </a:rPr>
              <a:t>Function</a:t>
            </a:r>
            <a:endParaRPr lang="en-US" sz="1100" dirty="0"/>
          </a:p>
        </p:txBody>
      </p:sp>
      <p:sp>
        <p:nvSpPr>
          <p:cNvPr id="9" name="Shape 7"/>
          <p:cNvSpPr/>
          <p:nvPr/>
        </p:nvSpPr>
        <p:spPr>
          <a:xfrm>
            <a:off x="500881" y="2112020"/>
            <a:ext cx="8142238" cy="406450"/>
          </a:xfrm>
          <a:prstGeom prst="rect">
            <a:avLst/>
          </a:prstGeom>
          <a:solidFill>
            <a:srgbClr val="000000">
              <a:alpha val="4000"/>
            </a:srgbClr>
          </a:solidFill>
          <a:ln/>
        </p:spPr>
        <p:txBody>
          <a:bodyPr/>
          <a:lstStyle/>
          <a:p>
            <a:endParaRPr lang="en-US"/>
          </a:p>
        </p:txBody>
      </p:sp>
      <p:sp>
        <p:nvSpPr>
          <p:cNvPr id="10" name="Text 8"/>
          <p:cNvSpPr/>
          <p:nvPr/>
        </p:nvSpPr>
        <p:spPr>
          <a:xfrm>
            <a:off x="642714" y="2201838"/>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HC-SR04 VCC</a:t>
            </a:r>
            <a:endParaRPr lang="en-US" sz="1100" dirty="0"/>
          </a:p>
        </p:txBody>
      </p:sp>
      <p:sp>
        <p:nvSpPr>
          <p:cNvPr id="11" name="Text 9"/>
          <p:cNvSpPr/>
          <p:nvPr/>
        </p:nvSpPr>
        <p:spPr>
          <a:xfrm>
            <a:off x="3087737" y="2201838"/>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5V</a:t>
            </a:r>
            <a:endParaRPr lang="en-US" sz="1100" dirty="0"/>
          </a:p>
        </p:txBody>
      </p:sp>
      <p:sp>
        <p:nvSpPr>
          <p:cNvPr id="12" name="Text 10"/>
          <p:cNvSpPr/>
          <p:nvPr/>
        </p:nvSpPr>
        <p:spPr>
          <a:xfrm>
            <a:off x="5937498" y="2201838"/>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Power supply</a:t>
            </a:r>
            <a:endParaRPr lang="en-US" sz="1100" dirty="0"/>
          </a:p>
        </p:txBody>
      </p:sp>
      <p:sp>
        <p:nvSpPr>
          <p:cNvPr id="13" name="Shape 11"/>
          <p:cNvSpPr/>
          <p:nvPr/>
        </p:nvSpPr>
        <p:spPr>
          <a:xfrm>
            <a:off x="500881" y="2518470"/>
            <a:ext cx="8142238" cy="406450"/>
          </a:xfrm>
          <a:prstGeom prst="rect">
            <a:avLst/>
          </a:prstGeom>
          <a:solidFill>
            <a:srgbClr val="FFFFFF">
              <a:alpha val="4000"/>
            </a:srgbClr>
          </a:solidFill>
          <a:ln/>
        </p:spPr>
        <p:txBody>
          <a:bodyPr/>
          <a:lstStyle/>
          <a:p>
            <a:endParaRPr lang="en-US"/>
          </a:p>
        </p:txBody>
      </p:sp>
      <p:sp>
        <p:nvSpPr>
          <p:cNvPr id="14" name="Text 12"/>
          <p:cNvSpPr/>
          <p:nvPr/>
        </p:nvSpPr>
        <p:spPr>
          <a:xfrm>
            <a:off x="642714" y="2608287"/>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HC-SR04 GND</a:t>
            </a:r>
            <a:endParaRPr lang="en-US" sz="1100" dirty="0"/>
          </a:p>
        </p:txBody>
      </p:sp>
      <p:sp>
        <p:nvSpPr>
          <p:cNvPr id="15" name="Text 13"/>
          <p:cNvSpPr/>
          <p:nvPr/>
        </p:nvSpPr>
        <p:spPr>
          <a:xfrm>
            <a:off x="3087737" y="2608287"/>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GND</a:t>
            </a:r>
            <a:endParaRPr lang="en-US" sz="1100" dirty="0"/>
          </a:p>
        </p:txBody>
      </p:sp>
      <p:sp>
        <p:nvSpPr>
          <p:cNvPr id="16" name="Text 14"/>
          <p:cNvSpPr/>
          <p:nvPr/>
        </p:nvSpPr>
        <p:spPr>
          <a:xfrm>
            <a:off x="5937498" y="2608287"/>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Ground connection</a:t>
            </a:r>
            <a:endParaRPr lang="en-US" sz="1100" dirty="0"/>
          </a:p>
        </p:txBody>
      </p:sp>
      <p:sp>
        <p:nvSpPr>
          <p:cNvPr id="17" name="Shape 15"/>
          <p:cNvSpPr/>
          <p:nvPr/>
        </p:nvSpPr>
        <p:spPr>
          <a:xfrm>
            <a:off x="500881" y="2924919"/>
            <a:ext cx="8142238" cy="406450"/>
          </a:xfrm>
          <a:prstGeom prst="rect">
            <a:avLst/>
          </a:prstGeom>
          <a:solidFill>
            <a:srgbClr val="000000">
              <a:alpha val="4000"/>
            </a:srgbClr>
          </a:solidFill>
          <a:ln/>
        </p:spPr>
        <p:txBody>
          <a:bodyPr/>
          <a:lstStyle/>
          <a:p>
            <a:endParaRPr lang="en-US"/>
          </a:p>
        </p:txBody>
      </p:sp>
      <p:sp>
        <p:nvSpPr>
          <p:cNvPr id="18" name="Text 16"/>
          <p:cNvSpPr/>
          <p:nvPr/>
        </p:nvSpPr>
        <p:spPr>
          <a:xfrm>
            <a:off x="642714" y="3014737"/>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HC-SR04 TRIG</a:t>
            </a:r>
            <a:endParaRPr lang="en-US" sz="1100" dirty="0"/>
          </a:p>
        </p:txBody>
      </p:sp>
      <p:sp>
        <p:nvSpPr>
          <p:cNvPr id="19" name="Text 17"/>
          <p:cNvSpPr/>
          <p:nvPr/>
        </p:nvSpPr>
        <p:spPr>
          <a:xfrm>
            <a:off x="3087737" y="3014737"/>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Pin 11</a:t>
            </a:r>
            <a:endParaRPr lang="en-US" sz="1100" dirty="0"/>
          </a:p>
        </p:txBody>
      </p:sp>
      <p:sp>
        <p:nvSpPr>
          <p:cNvPr id="20" name="Text 18"/>
          <p:cNvSpPr/>
          <p:nvPr/>
        </p:nvSpPr>
        <p:spPr>
          <a:xfrm>
            <a:off x="5937498" y="3014737"/>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Trigger pulse</a:t>
            </a:r>
            <a:endParaRPr lang="en-US" sz="1100" dirty="0"/>
          </a:p>
        </p:txBody>
      </p:sp>
      <p:sp>
        <p:nvSpPr>
          <p:cNvPr id="21" name="Shape 19"/>
          <p:cNvSpPr/>
          <p:nvPr/>
        </p:nvSpPr>
        <p:spPr>
          <a:xfrm>
            <a:off x="500881" y="3331369"/>
            <a:ext cx="8142238" cy="406450"/>
          </a:xfrm>
          <a:prstGeom prst="rect">
            <a:avLst/>
          </a:prstGeom>
          <a:solidFill>
            <a:srgbClr val="FFFFFF">
              <a:alpha val="4000"/>
            </a:srgbClr>
          </a:solidFill>
          <a:ln/>
        </p:spPr>
        <p:txBody>
          <a:bodyPr/>
          <a:lstStyle/>
          <a:p>
            <a:endParaRPr lang="en-US"/>
          </a:p>
        </p:txBody>
      </p:sp>
      <p:sp>
        <p:nvSpPr>
          <p:cNvPr id="22" name="Text 20"/>
          <p:cNvSpPr/>
          <p:nvPr/>
        </p:nvSpPr>
        <p:spPr>
          <a:xfrm>
            <a:off x="642714" y="3421187"/>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HC-SR04 ECHO</a:t>
            </a:r>
            <a:endParaRPr lang="en-US" sz="1100" dirty="0"/>
          </a:p>
        </p:txBody>
      </p:sp>
      <p:sp>
        <p:nvSpPr>
          <p:cNvPr id="23" name="Text 21"/>
          <p:cNvSpPr/>
          <p:nvPr/>
        </p:nvSpPr>
        <p:spPr>
          <a:xfrm>
            <a:off x="3087737" y="3421187"/>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Pin 8</a:t>
            </a:r>
            <a:endParaRPr lang="en-US" sz="1100" dirty="0"/>
          </a:p>
        </p:txBody>
      </p:sp>
      <p:sp>
        <p:nvSpPr>
          <p:cNvPr id="24" name="Text 22"/>
          <p:cNvSpPr/>
          <p:nvPr/>
        </p:nvSpPr>
        <p:spPr>
          <a:xfrm>
            <a:off x="5937498" y="3421187"/>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Echo return</a:t>
            </a:r>
            <a:endParaRPr lang="en-US" sz="1100" dirty="0"/>
          </a:p>
        </p:txBody>
      </p:sp>
      <p:sp>
        <p:nvSpPr>
          <p:cNvPr id="25" name="Shape 23"/>
          <p:cNvSpPr/>
          <p:nvPr/>
        </p:nvSpPr>
        <p:spPr>
          <a:xfrm>
            <a:off x="500881" y="3737818"/>
            <a:ext cx="8142238" cy="406450"/>
          </a:xfrm>
          <a:prstGeom prst="rect">
            <a:avLst/>
          </a:prstGeom>
          <a:solidFill>
            <a:srgbClr val="000000">
              <a:alpha val="4000"/>
            </a:srgbClr>
          </a:solidFill>
          <a:ln/>
        </p:spPr>
        <p:txBody>
          <a:bodyPr/>
          <a:lstStyle/>
          <a:p>
            <a:endParaRPr lang="en-US"/>
          </a:p>
        </p:txBody>
      </p:sp>
      <p:sp>
        <p:nvSpPr>
          <p:cNvPr id="26" name="Text 24"/>
          <p:cNvSpPr/>
          <p:nvPr/>
        </p:nvSpPr>
        <p:spPr>
          <a:xfrm>
            <a:off x="642714" y="3827636"/>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Buzzer (+)</a:t>
            </a:r>
            <a:endParaRPr lang="en-US" sz="1100" dirty="0"/>
          </a:p>
        </p:txBody>
      </p:sp>
      <p:sp>
        <p:nvSpPr>
          <p:cNvPr id="27" name="Text 25"/>
          <p:cNvSpPr/>
          <p:nvPr/>
        </p:nvSpPr>
        <p:spPr>
          <a:xfrm>
            <a:off x="3087737" y="3827636"/>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Pin 2</a:t>
            </a:r>
            <a:endParaRPr lang="en-US" sz="1100" dirty="0"/>
          </a:p>
        </p:txBody>
      </p:sp>
      <p:sp>
        <p:nvSpPr>
          <p:cNvPr id="28" name="Text 26"/>
          <p:cNvSpPr/>
          <p:nvPr/>
        </p:nvSpPr>
        <p:spPr>
          <a:xfrm>
            <a:off x="5937498" y="3827636"/>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Alert output</a:t>
            </a:r>
            <a:endParaRPr lang="en-US" sz="1100" dirty="0"/>
          </a:p>
        </p:txBody>
      </p:sp>
      <p:sp>
        <p:nvSpPr>
          <p:cNvPr id="29" name="Shape 27"/>
          <p:cNvSpPr/>
          <p:nvPr/>
        </p:nvSpPr>
        <p:spPr>
          <a:xfrm>
            <a:off x="500881" y="4144268"/>
            <a:ext cx="8142238" cy="406450"/>
          </a:xfrm>
          <a:prstGeom prst="rect">
            <a:avLst/>
          </a:prstGeom>
          <a:solidFill>
            <a:srgbClr val="FFFFFF">
              <a:alpha val="4000"/>
            </a:srgbClr>
          </a:solidFill>
          <a:ln/>
        </p:spPr>
        <p:txBody>
          <a:bodyPr/>
          <a:lstStyle/>
          <a:p>
            <a:endParaRPr lang="en-US"/>
          </a:p>
        </p:txBody>
      </p:sp>
      <p:sp>
        <p:nvSpPr>
          <p:cNvPr id="30" name="Text 28"/>
          <p:cNvSpPr/>
          <p:nvPr/>
        </p:nvSpPr>
        <p:spPr>
          <a:xfrm>
            <a:off x="642714" y="4234086"/>
            <a:ext cx="215674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LED Anode (+)</a:t>
            </a:r>
            <a:endParaRPr lang="en-US" sz="1100" dirty="0"/>
          </a:p>
        </p:txBody>
      </p:sp>
      <p:sp>
        <p:nvSpPr>
          <p:cNvPr id="31" name="Text 29"/>
          <p:cNvSpPr/>
          <p:nvPr/>
        </p:nvSpPr>
        <p:spPr>
          <a:xfrm>
            <a:off x="3087737" y="4234086"/>
            <a:ext cx="2561481"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Pin 5</a:t>
            </a:r>
            <a:endParaRPr lang="en-US" sz="1100" dirty="0"/>
          </a:p>
        </p:txBody>
      </p:sp>
      <p:sp>
        <p:nvSpPr>
          <p:cNvPr id="32" name="Text 30"/>
          <p:cNvSpPr/>
          <p:nvPr/>
        </p:nvSpPr>
        <p:spPr>
          <a:xfrm>
            <a:off x="5937498" y="4234086"/>
            <a:ext cx="2563862"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Via 220Ω resistor</a:t>
            </a:r>
            <a:endParaRPr lang="en-US" sz="1100" dirty="0"/>
          </a:p>
        </p:txBody>
      </p:sp>
      <p:sp>
        <p:nvSpPr>
          <p:cNvPr id="33" name="Arrow: Notched Right 32">
            <a:extLst>
              <a:ext uri="{FF2B5EF4-FFF2-40B4-BE49-F238E27FC236}">
                <a16:creationId xmlns:a16="http://schemas.microsoft.com/office/drawing/2014/main" id="{1B0FBB81-A46B-DC9A-6B5A-09CAD2FDC693}"/>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97148"/>
            <a:ext cx="4894808"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Source Code Implementation</a:t>
            </a:r>
            <a:endParaRPr lang="en-US" sz="2750" dirty="0"/>
          </a:p>
        </p:txBody>
      </p:sp>
      <p:sp>
        <p:nvSpPr>
          <p:cNvPr id="3" name="Text 1"/>
          <p:cNvSpPr/>
          <p:nvPr/>
        </p:nvSpPr>
        <p:spPr>
          <a:xfrm>
            <a:off x="496119" y="1194495"/>
            <a:ext cx="2126456" cy="265807"/>
          </a:xfrm>
          <a:prstGeom prst="rect">
            <a:avLst/>
          </a:prstGeom>
          <a:noFill/>
          <a:ln/>
        </p:spPr>
        <p:txBody>
          <a:bodyPr wrap="none" lIns="0" tIns="0" rIns="0" bIns="0" rtlCol="0" anchor="t"/>
          <a:lstStyle/>
          <a:p>
            <a:pPr marL="0" indent="0" algn="l">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Setup &amp; Variables</a:t>
            </a:r>
            <a:endParaRPr lang="en-US" sz="1650" dirty="0"/>
          </a:p>
        </p:txBody>
      </p:sp>
      <p:pic>
        <p:nvPicPr>
          <p:cNvPr id="4" name="Image 0" descr="preencoded.png"/>
          <p:cNvPicPr>
            <a:picLocks noChangeAspect="1"/>
          </p:cNvPicPr>
          <p:nvPr/>
        </p:nvPicPr>
        <p:blipFill>
          <a:blip r:embed="rId3"/>
          <a:stretch>
            <a:fillRect/>
          </a:stretch>
        </p:blipFill>
        <p:spPr>
          <a:xfrm>
            <a:off x="496119" y="1619771"/>
            <a:ext cx="1980456" cy="2509242"/>
          </a:xfrm>
          <a:prstGeom prst="rect">
            <a:avLst/>
          </a:prstGeom>
        </p:spPr>
      </p:pic>
      <p:sp>
        <p:nvSpPr>
          <p:cNvPr id="5" name="Text 2"/>
          <p:cNvSpPr/>
          <p:nvPr/>
        </p:nvSpPr>
        <p:spPr>
          <a:xfrm>
            <a:off x="3333080" y="1194495"/>
            <a:ext cx="2487216" cy="531614"/>
          </a:xfrm>
          <a:prstGeom prst="rect">
            <a:avLst/>
          </a:prstGeom>
          <a:noFill/>
          <a:ln/>
        </p:spPr>
        <p:txBody>
          <a:bodyPr wrap="square" lIns="0" tIns="0" rIns="0" bIns="0" rtlCol="0" anchor="t"/>
          <a:lstStyle/>
          <a:p>
            <a:pPr marL="0" indent="0" algn="l">
              <a:lnSpc>
                <a:spcPts val="2050"/>
              </a:lnSpc>
              <a:buNone/>
            </a:pPr>
            <a:r>
              <a:rPr lang="en-US" sz="1650" dirty="0">
                <a:solidFill>
                  <a:srgbClr val="CBCCCE"/>
                </a:solidFill>
                <a:latin typeface="Instrument Sans Semi Bold" pitchFamily="34" charset="0"/>
                <a:ea typeface="Instrument Sans Semi Bold" pitchFamily="34" charset="-122"/>
                <a:cs typeface="Instrument Sans Semi Bold" pitchFamily="34" charset="-120"/>
              </a:rPr>
              <a:t>Distance Measurement Loop</a:t>
            </a:r>
            <a:endParaRPr lang="en-US" sz="1650" dirty="0"/>
          </a:p>
        </p:txBody>
      </p:sp>
      <p:pic>
        <p:nvPicPr>
          <p:cNvPr id="6" name="Image 1" descr="preencoded.png"/>
          <p:cNvPicPr>
            <a:picLocks noChangeAspect="1"/>
          </p:cNvPicPr>
          <p:nvPr/>
        </p:nvPicPr>
        <p:blipFill>
          <a:blip r:embed="rId4"/>
          <a:stretch>
            <a:fillRect/>
          </a:stretch>
        </p:blipFill>
        <p:spPr>
          <a:xfrm>
            <a:off x="3333080" y="1885578"/>
            <a:ext cx="2487216" cy="2314947"/>
          </a:xfrm>
          <a:prstGeom prst="rect">
            <a:avLst/>
          </a:prstGeom>
        </p:spPr>
      </p:pic>
      <p:pic>
        <p:nvPicPr>
          <p:cNvPr id="7" name="Image 2" descr="preencoded.png"/>
          <p:cNvPicPr>
            <a:picLocks noChangeAspect="1"/>
          </p:cNvPicPr>
          <p:nvPr/>
        </p:nvPicPr>
        <p:blipFill>
          <a:blip r:embed="rId5"/>
          <a:stretch>
            <a:fillRect/>
          </a:stretch>
        </p:blipFill>
        <p:spPr>
          <a:xfrm>
            <a:off x="6170935" y="1212205"/>
            <a:ext cx="2486323" cy="1948681"/>
          </a:xfrm>
          <a:prstGeom prst="rect">
            <a:avLst/>
          </a:prstGeom>
        </p:spPr>
      </p:pic>
      <p:sp>
        <p:nvSpPr>
          <p:cNvPr id="8" name="Text 3"/>
          <p:cNvSpPr/>
          <p:nvPr/>
        </p:nvSpPr>
        <p:spPr>
          <a:xfrm>
            <a:off x="496119" y="4519464"/>
            <a:ext cx="8151763" cy="226814"/>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Instrument Sans Medium" pitchFamily="34" charset="0"/>
                <a:ea typeface="Instrument Sans Medium" pitchFamily="34" charset="-122"/>
                <a:cs typeface="Instrument Sans Medium" pitchFamily="34" charset="-120"/>
              </a:rPr>
              <a:t>The code reads distance from HC-SR04 sensor and triggers alerts when obstacles are ≤20 cm away.</a:t>
            </a:r>
            <a:endParaRPr lang="en-US" sz="1100" dirty="0"/>
          </a:p>
        </p:txBody>
      </p:sp>
      <p:sp>
        <p:nvSpPr>
          <p:cNvPr id="9" name="Arrow: Notched Right 8">
            <a:extLst>
              <a:ext uri="{FF2B5EF4-FFF2-40B4-BE49-F238E27FC236}">
                <a16:creationId xmlns:a16="http://schemas.microsoft.com/office/drawing/2014/main" id="{E522C116-68FF-8579-6D18-144FDCD7E9E2}"/>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209675"/>
            <a:ext cx="5156299" cy="442987"/>
          </a:xfrm>
          <a:prstGeom prst="rect">
            <a:avLst/>
          </a:prstGeom>
          <a:noFill/>
          <a:ln/>
        </p:spPr>
        <p:txBody>
          <a:bodyPr wrap="none" lIns="0" tIns="0" rIns="0" bIns="0" rtlCol="0" anchor="t"/>
          <a:lstStyle/>
          <a:p>
            <a:pPr marL="0" indent="0" algn="l">
              <a:lnSpc>
                <a:spcPts val="3450"/>
              </a:lnSpc>
              <a:buNone/>
            </a:pPr>
            <a:r>
              <a:rPr lang="en-US" sz="2750" dirty="0">
                <a:solidFill>
                  <a:srgbClr val="CBCCCE"/>
                </a:solidFill>
                <a:latin typeface="Instrument Sans Semi Bold" pitchFamily="34" charset="0"/>
                <a:ea typeface="Instrument Sans Semi Bold" pitchFamily="34" charset="-122"/>
                <a:cs typeface="Instrument Sans Semi Bold" pitchFamily="34" charset="-120"/>
              </a:rPr>
              <a:t>Project Build &amp; Documentation</a:t>
            </a:r>
            <a:endParaRPr lang="en-US" sz="2750" dirty="0"/>
          </a:p>
        </p:txBody>
      </p:sp>
      <p:sp>
        <p:nvSpPr>
          <p:cNvPr id="3" name="Shape 1"/>
          <p:cNvSpPr/>
          <p:nvPr/>
        </p:nvSpPr>
        <p:spPr>
          <a:xfrm>
            <a:off x="496119" y="1936179"/>
            <a:ext cx="8151763" cy="602382"/>
          </a:xfrm>
          <a:prstGeom prst="roundRect">
            <a:avLst>
              <a:gd name="adj" fmla="val 9884"/>
            </a:avLst>
          </a:prstGeom>
          <a:solidFill>
            <a:srgbClr val="25252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37877" y="2151236"/>
            <a:ext cx="177180" cy="141759"/>
          </a:xfrm>
          <a:prstGeom prst="rect">
            <a:avLst/>
          </a:prstGeom>
        </p:spPr>
      </p:pic>
      <p:sp>
        <p:nvSpPr>
          <p:cNvPr id="5" name="Text 2"/>
          <p:cNvSpPr/>
          <p:nvPr/>
        </p:nvSpPr>
        <p:spPr>
          <a:xfrm>
            <a:off x="956816" y="2113359"/>
            <a:ext cx="7549307" cy="226814"/>
          </a:xfrm>
          <a:prstGeom prst="rect">
            <a:avLst/>
          </a:prstGeom>
          <a:noFill/>
          <a:ln/>
        </p:spPr>
        <p:txBody>
          <a:bodyPr wrap="none" lIns="0" tIns="0" rIns="0" bIns="0" rtlCol="0" anchor="t"/>
          <a:lstStyle/>
          <a:p>
            <a:pPr marL="0" indent="0" algn="l">
              <a:lnSpc>
                <a:spcPts val="1750"/>
              </a:lnSpc>
              <a:buNone/>
            </a:pPr>
            <a:r>
              <a:rPr lang="en-US" sz="1100" b="1" dirty="0">
                <a:solidFill>
                  <a:srgbClr val="FFFFFF"/>
                </a:solidFill>
                <a:latin typeface="Instrument Sans Medium" pitchFamily="34" charset="0"/>
                <a:ea typeface="Instrument Sans Medium" pitchFamily="34" charset="-122"/>
                <a:cs typeface="Instrument Sans Medium" pitchFamily="34" charset="-120"/>
              </a:rPr>
              <a:t>Project Build &amp; Documentation:</a:t>
            </a:r>
            <a:r>
              <a:rPr lang="en-US" sz="1100" dirty="0">
                <a:solidFill>
                  <a:srgbClr val="FFFFFF"/>
                </a:solidFill>
                <a:latin typeface="Instrument Sans Medium" pitchFamily="34" charset="0"/>
                <a:ea typeface="Instrument Sans Medium" pitchFamily="34" charset="-122"/>
                <a:cs typeface="Instrument Sans Medium" pitchFamily="34" charset="-120"/>
              </a:rPr>
              <a:t> Physical implementation and testing of the Smart Stick prototype.</a:t>
            </a:r>
            <a:endParaRPr lang="en-US" sz="1100" dirty="0"/>
          </a:p>
        </p:txBody>
      </p:sp>
      <p:pic>
        <p:nvPicPr>
          <p:cNvPr id="6" name="Image 1" descr="preencoded.png"/>
          <p:cNvPicPr>
            <a:picLocks noChangeAspect="1"/>
          </p:cNvPicPr>
          <p:nvPr/>
        </p:nvPicPr>
        <p:blipFill>
          <a:blip r:embed="rId4"/>
          <a:stretch>
            <a:fillRect/>
          </a:stretch>
        </p:blipFill>
        <p:spPr>
          <a:xfrm>
            <a:off x="393896" y="2715741"/>
            <a:ext cx="2124222" cy="1898461"/>
          </a:xfrm>
          <a:prstGeom prst="rect">
            <a:avLst/>
          </a:prstGeom>
        </p:spPr>
      </p:pic>
      <p:pic>
        <p:nvPicPr>
          <p:cNvPr id="7" name="Image 2" descr="preencoded.png"/>
          <p:cNvPicPr>
            <a:picLocks noChangeAspect="1"/>
          </p:cNvPicPr>
          <p:nvPr/>
        </p:nvPicPr>
        <p:blipFill>
          <a:blip r:embed="rId5"/>
          <a:stretch>
            <a:fillRect/>
          </a:stretch>
        </p:blipFill>
        <p:spPr>
          <a:xfrm>
            <a:off x="2631524" y="2715740"/>
            <a:ext cx="1940476" cy="1898461"/>
          </a:xfrm>
          <a:prstGeom prst="rect">
            <a:avLst/>
          </a:prstGeom>
        </p:spPr>
      </p:pic>
      <p:pic>
        <p:nvPicPr>
          <p:cNvPr id="8" name="Image 3" descr="preencoded.png"/>
          <p:cNvPicPr>
            <a:picLocks noChangeAspect="1"/>
          </p:cNvPicPr>
          <p:nvPr/>
        </p:nvPicPr>
        <p:blipFill>
          <a:blip r:embed="rId6"/>
          <a:stretch>
            <a:fillRect/>
          </a:stretch>
        </p:blipFill>
        <p:spPr>
          <a:xfrm>
            <a:off x="4628703" y="2715741"/>
            <a:ext cx="2074551" cy="1898460"/>
          </a:xfrm>
          <a:prstGeom prst="rect">
            <a:avLst/>
          </a:prstGeom>
        </p:spPr>
      </p:pic>
      <p:pic>
        <p:nvPicPr>
          <p:cNvPr id="9" name="Image 4" descr="preencoded.png"/>
          <p:cNvPicPr>
            <a:picLocks noChangeAspect="1"/>
          </p:cNvPicPr>
          <p:nvPr/>
        </p:nvPicPr>
        <p:blipFill>
          <a:blip r:embed="rId7"/>
          <a:stretch>
            <a:fillRect/>
          </a:stretch>
        </p:blipFill>
        <p:spPr>
          <a:xfrm>
            <a:off x="6759956" y="2715740"/>
            <a:ext cx="2074551" cy="1898461"/>
          </a:xfrm>
          <a:prstGeom prst="rect">
            <a:avLst/>
          </a:prstGeom>
        </p:spPr>
      </p:pic>
      <p:sp>
        <p:nvSpPr>
          <p:cNvPr id="10" name="Arrow: Notched Right 9">
            <a:extLst>
              <a:ext uri="{FF2B5EF4-FFF2-40B4-BE49-F238E27FC236}">
                <a16:creationId xmlns:a16="http://schemas.microsoft.com/office/drawing/2014/main" id="{62C30B5B-643D-955E-1CC5-F4EEC3AA2A8D}"/>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4">
            <a:hlinkClick r:id="" action="ppaction://media"/>
            <a:extLst>
              <a:ext uri="{FF2B5EF4-FFF2-40B4-BE49-F238E27FC236}">
                <a16:creationId xmlns:a16="http://schemas.microsoft.com/office/drawing/2014/main" id="{34082285-2117-2AFC-73C8-010D4E7BB87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24200" y="246185"/>
            <a:ext cx="2894013" cy="4740812"/>
          </a:xfrm>
          <a:prstGeom prst="rect">
            <a:avLst/>
          </a:prstGeom>
        </p:spPr>
      </p:pic>
      <p:sp>
        <p:nvSpPr>
          <p:cNvPr id="3" name="Arrow: Notched Right 2">
            <a:extLst>
              <a:ext uri="{FF2B5EF4-FFF2-40B4-BE49-F238E27FC236}">
                <a16:creationId xmlns:a16="http://schemas.microsoft.com/office/drawing/2014/main" id="{F557DEC1-3753-D80C-7C98-4F6A2F3D5224}"/>
              </a:ext>
            </a:extLst>
          </p:cNvPr>
          <p:cNvSpPr/>
          <p:nvPr/>
        </p:nvSpPr>
        <p:spPr>
          <a:xfrm>
            <a:off x="7853057" y="4628271"/>
            <a:ext cx="1589650" cy="5908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199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50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_vid">
            <a:hlinkClick r:id="" action="ppaction://media"/>
            <a:extLst>
              <a:ext uri="{FF2B5EF4-FFF2-40B4-BE49-F238E27FC236}">
                <a16:creationId xmlns:a16="http://schemas.microsoft.com/office/drawing/2014/main" id="{FB3B012D-AAD2-D140-D11A-951F425A69C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314367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0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315</Words>
  <Application>Microsoft Office PowerPoint</Application>
  <PresentationFormat>On-screen Show (16:9)</PresentationFormat>
  <Paragraphs>69</Paragraphs>
  <Slides>9</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Instrument Sans Semi Bold</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Menna Moez</cp:lastModifiedBy>
  <cp:revision>2</cp:revision>
  <dcterms:created xsi:type="dcterms:W3CDTF">2026-05-06T18:01:35Z</dcterms:created>
  <dcterms:modified xsi:type="dcterms:W3CDTF">2026-05-06T18:07:27Z</dcterms:modified>
</cp:coreProperties>
</file>